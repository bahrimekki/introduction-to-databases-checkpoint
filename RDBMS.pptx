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A2640F-6D64-4E72-BB7C-F938A69703B8}"/>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822E312-A0E7-43B5-BD59-AFAA181C4E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DF87D2E-1B52-4F00-9BA9-8A1ECA6A4158}"/>
              </a:ext>
            </a:extLst>
          </p:cNvPr>
          <p:cNvSpPr>
            <a:spLocks noGrp="1"/>
          </p:cNvSpPr>
          <p:nvPr>
            <p:ph type="dt" sz="half" idx="10"/>
          </p:nvPr>
        </p:nvSpPr>
        <p:spPr/>
        <p:txBody>
          <a:bodyPr/>
          <a:lstStyle/>
          <a:p>
            <a:fld id="{0B5C3AF7-F1BB-4A51-9D34-B44E28E9252B}" type="datetimeFigureOut">
              <a:rPr lang="fr-FR" smtClean="0"/>
              <a:t>09/06/2021</a:t>
            </a:fld>
            <a:endParaRPr lang="fr-FR"/>
          </a:p>
        </p:txBody>
      </p:sp>
      <p:sp>
        <p:nvSpPr>
          <p:cNvPr id="5" name="Espace réservé du pied de page 4">
            <a:extLst>
              <a:ext uri="{FF2B5EF4-FFF2-40B4-BE49-F238E27FC236}">
                <a16:creationId xmlns:a16="http://schemas.microsoft.com/office/drawing/2014/main" id="{FE6EE2B1-08C7-4050-AD1A-1B00AF669E0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D1211D1-8D3D-4DDD-8C2A-1A851FA0D961}"/>
              </a:ext>
            </a:extLst>
          </p:cNvPr>
          <p:cNvSpPr>
            <a:spLocks noGrp="1"/>
          </p:cNvSpPr>
          <p:nvPr>
            <p:ph type="sldNum" sz="quarter" idx="12"/>
          </p:nvPr>
        </p:nvSpPr>
        <p:spPr/>
        <p:txBody>
          <a:bodyPr/>
          <a:lstStyle/>
          <a:p>
            <a:fld id="{43978C6F-79F1-487D-AB28-88F8E8D82C8B}" type="slidenum">
              <a:rPr lang="fr-FR" smtClean="0"/>
              <a:t>‹N°›</a:t>
            </a:fld>
            <a:endParaRPr lang="fr-FR"/>
          </a:p>
        </p:txBody>
      </p:sp>
    </p:spTree>
    <p:extLst>
      <p:ext uri="{BB962C8B-B14F-4D97-AF65-F5344CB8AC3E}">
        <p14:creationId xmlns:p14="http://schemas.microsoft.com/office/powerpoint/2010/main" val="2378181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4329A9-CBDC-4C09-B2D6-53F84156ACA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980F0B1-A393-4B41-89EC-282C58757AD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85237BF-52DB-44F6-8534-7FB2EA5233B3}"/>
              </a:ext>
            </a:extLst>
          </p:cNvPr>
          <p:cNvSpPr>
            <a:spLocks noGrp="1"/>
          </p:cNvSpPr>
          <p:nvPr>
            <p:ph type="dt" sz="half" idx="10"/>
          </p:nvPr>
        </p:nvSpPr>
        <p:spPr/>
        <p:txBody>
          <a:bodyPr/>
          <a:lstStyle/>
          <a:p>
            <a:fld id="{0B5C3AF7-F1BB-4A51-9D34-B44E28E9252B}" type="datetimeFigureOut">
              <a:rPr lang="fr-FR" smtClean="0"/>
              <a:t>09/06/2021</a:t>
            </a:fld>
            <a:endParaRPr lang="fr-FR"/>
          </a:p>
        </p:txBody>
      </p:sp>
      <p:sp>
        <p:nvSpPr>
          <p:cNvPr id="5" name="Espace réservé du pied de page 4">
            <a:extLst>
              <a:ext uri="{FF2B5EF4-FFF2-40B4-BE49-F238E27FC236}">
                <a16:creationId xmlns:a16="http://schemas.microsoft.com/office/drawing/2014/main" id="{EBD3885D-D4ED-4DB4-9042-F43C3770174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07073F5-A682-47EE-B21E-157D8E06F235}"/>
              </a:ext>
            </a:extLst>
          </p:cNvPr>
          <p:cNvSpPr>
            <a:spLocks noGrp="1"/>
          </p:cNvSpPr>
          <p:nvPr>
            <p:ph type="sldNum" sz="quarter" idx="12"/>
          </p:nvPr>
        </p:nvSpPr>
        <p:spPr/>
        <p:txBody>
          <a:bodyPr/>
          <a:lstStyle/>
          <a:p>
            <a:fld id="{43978C6F-79F1-487D-AB28-88F8E8D82C8B}" type="slidenum">
              <a:rPr lang="fr-FR" smtClean="0"/>
              <a:t>‹N°›</a:t>
            </a:fld>
            <a:endParaRPr lang="fr-FR"/>
          </a:p>
        </p:txBody>
      </p:sp>
    </p:spTree>
    <p:extLst>
      <p:ext uri="{BB962C8B-B14F-4D97-AF65-F5344CB8AC3E}">
        <p14:creationId xmlns:p14="http://schemas.microsoft.com/office/powerpoint/2010/main" val="3987605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D88978-0FA8-4887-84C5-C2412A4A794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4C6F121D-1EA2-4D50-9132-83381A9B96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C29330E-75F3-4C98-876B-A0BBFB4604C6}"/>
              </a:ext>
            </a:extLst>
          </p:cNvPr>
          <p:cNvSpPr>
            <a:spLocks noGrp="1"/>
          </p:cNvSpPr>
          <p:nvPr>
            <p:ph type="dt" sz="half" idx="10"/>
          </p:nvPr>
        </p:nvSpPr>
        <p:spPr/>
        <p:txBody>
          <a:bodyPr/>
          <a:lstStyle/>
          <a:p>
            <a:fld id="{0B5C3AF7-F1BB-4A51-9D34-B44E28E9252B}" type="datetimeFigureOut">
              <a:rPr lang="fr-FR" smtClean="0"/>
              <a:t>09/06/2021</a:t>
            </a:fld>
            <a:endParaRPr lang="fr-FR"/>
          </a:p>
        </p:txBody>
      </p:sp>
      <p:sp>
        <p:nvSpPr>
          <p:cNvPr id="5" name="Espace réservé du pied de page 4">
            <a:extLst>
              <a:ext uri="{FF2B5EF4-FFF2-40B4-BE49-F238E27FC236}">
                <a16:creationId xmlns:a16="http://schemas.microsoft.com/office/drawing/2014/main" id="{E168FE75-4C17-4F9A-899F-DABD2B8354A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46E4636-F56B-49F6-A0C7-E609FB2A1422}"/>
              </a:ext>
            </a:extLst>
          </p:cNvPr>
          <p:cNvSpPr>
            <a:spLocks noGrp="1"/>
          </p:cNvSpPr>
          <p:nvPr>
            <p:ph type="sldNum" sz="quarter" idx="12"/>
          </p:nvPr>
        </p:nvSpPr>
        <p:spPr/>
        <p:txBody>
          <a:bodyPr/>
          <a:lstStyle/>
          <a:p>
            <a:fld id="{43978C6F-79F1-487D-AB28-88F8E8D82C8B}" type="slidenum">
              <a:rPr lang="fr-FR" smtClean="0"/>
              <a:t>‹N°›</a:t>
            </a:fld>
            <a:endParaRPr lang="fr-FR"/>
          </a:p>
        </p:txBody>
      </p:sp>
    </p:spTree>
    <p:extLst>
      <p:ext uri="{BB962C8B-B14F-4D97-AF65-F5344CB8AC3E}">
        <p14:creationId xmlns:p14="http://schemas.microsoft.com/office/powerpoint/2010/main" val="2350959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93FD90-625E-48ED-8358-B6A7D06A854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4035E89-D082-43F7-9B7C-7872E6B0F95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82D6B06-A3DF-46BB-BF3D-C0890EAB5755}"/>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9D76962-ED6F-41E8-A12B-DDCB89D332CA}"/>
              </a:ext>
            </a:extLst>
          </p:cNvPr>
          <p:cNvSpPr>
            <a:spLocks noGrp="1"/>
          </p:cNvSpPr>
          <p:nvPr>
            <p:ph type="dt" sz="half" idx="10"/>
          </p:nvPr>
        </p:nvSpPr>
        <p:spPr/>
        <p:txBody>
          <a:bodyPr/>
          <a:lstStyle/>
          <a:p>
            <a:fld id="{0B5C3AF7-F1BB-4A51-9D34-B44E28E9252B}" type="datetimeFigureOut">
              <a:rPr lang="fr-FR" smtClean="0"/>
              <a:t>09/06/2021</a:t>
            </a:fld>
            <a:endParaRPr lang="fr-FR"/>
          </a:p>
        </p:txBody>
      </p:sp>
      <p:sp>
        <p:nvSpPr>
          <p:cNvPr id="6" name="Espace réservé du pied de page 5">
            <a:extLst>
              <a:ext uri="{FF2B5EF4-FFF2-40B4-BE49-F238E27FC236}">
                <a16:creationId xmlns:a16="http://schemas.microsoft.com/office/drawing/2014/main" id="{2A032BE5-C3E8-43B4-96A2-F131CA13468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F241873-EF78-49D2-8EC6-A4E86BD2FE8E}"/>
              </a:ext>
            </a:extLst>
          </p:cNvPr>
          <p:cNvSpPr>
            <a:spLocks noGrp="1"/>
          </p:cNvSpPr>
          <p:nvPr>
            <p:ph type="sldNum" sz="quarter" idx="12"/>
          </p:nvPr>
        </p:nvSpPr>
        <p:spPr/>
        <p:txBody>
          <a:bodyPr/>
          <a:lstStyle/>
          <a:p>
            <a:fld id="{43978C6F-79F1-487D-AB28-88F8E8D82C8B}" type="slidenum">
              <a:rPr lang="fr-FR" smtClean="0"/>
              <a:t>‹N°›</a:t>
            </a:fld>
            <a:endParaRPr lang="fr-FR"/>
          </a:p>
        </p:txBody>
      </p:sp>
    </p:spTree>
    <p:extLst>
      <p:ext uri="{BB962C8B-B14F-4D97-AF65-F5344CB8AC3E}">
        <p14:creationId xmlns:p14="http://schemas.microsoft.com/office/powerpoint/2010/main" val="2826259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CCAF38-36AA-4C84-A52E-C4D344BF087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ED88ABA-4C6C-4AE9-B281-6C400F0122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2744609-26D9-4829-98EF-437DBC7B5AC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BC3AB97B-0756-4C2E-BC85-9A7695990E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F80C8DE-3CF3-4A03-8FC0-15247B592AF7}"/>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2040F48-C43B-4D0A-9EBF-FADE7F414647}"/>
              </a:ext>
            </a:extLst>
          </p:cNvPr>
          <p:cNvSpPr>
            <a:spLocks noGrp="1"/>
          </p:cNvSpPr>
          <p:nvPr>
            <p:ph type="dt" sz="half" idx="10"/>
          </p:nvPr>
        </p:nvSpPr>
        <p:spPr/>
        <p:txBody>
          <a:bodyPr/>
          <a:lstStyle/>
          <a:p>
            <a:fld id="{0B5C3AF7-F1BB-4A51-9D34-B44E28E9252B}" type="datetimeFigureOut">
              <a:rPr lang="fr-FR" smtClean="0"/>
              <a:t>09/06/2021</a:t>
            </a:fld>
            <a:endParaRPr lang="fr-FR"/>
          </a:p>
        </p:txBody>
      </p:sp>
      <p:sp>
        <p:nvSpPr>
          <p:cNvPr id="8" name="Espace réservé du pied de page 7">
            <a:extLst>
              <a:ext uri="{FF2B5EF4-FFF2-40B4-BE49-F238E27FC236}">
                <a16:creationId xmlns:a16="http://schemas.microsoft.com/office/drawing/2014/main" id="{AF3E4636-A3AB-4AA7-8E5E-54F31735D3CC}"/>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D6401F92-D518-4AAA-B693-0832CA63BC16}"/>
              </a:ext>
            </a:extLst>
          </p:cNvPr>
          <p:cNvSpPr>
            <a:spLocks noGrp="1"/>
          </p:cNvSpPr>
          <p:nvPr>
            <p:ph type="sldNum" sz="quarter" idx="12"/>
          </p:nvPr>
        </p:nvSpPr>
        <p:spPr/>
        <p:txBody>
          <a:bodyPr/>
          <a:lstStyle/>
          <a:p>
            <a:fld id="{43978C6F-79F1-487D-AB28-88F8E8D82C8B}" type="slidenum">
              <a:rPr lang="fr-FR" smtClean="0"/>
              <a:t>‹N°›</a:t>
            </a:fld>
            <a:endParaRPr lang="fr-FR"/>
          </a:p>
        </p:txBody>
      </p:sp>
    </p:spTree>
    <p:extLst>
      <p:ext uri="{BB962C8B-B14F-4D97-AF65-F5344CB8AC3E}">
        <p14:creationId xmlns:p14="http://schemas.microsoft.com/office/powerpoint/2010/main" val="3722074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669DC2-2F68-4A93-846B-576862B8B7A8}"/>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92FD8F7B-552E-403A-8D80-BD86690A6FCF}"/>
              </a:ext>
            </a:extLst>
          </p:cNvPr>
          <p:cNvSpPr>
            <a:spLocks noGrp="1"/>
          </p:cNvSpPr>
          <p:nvPr>
            <p:ph type="dt" sz="half" idx="10"/>
          </p:nvPr>
        </p:nvSpPr>
        <p:spPr/>
        <p:txBody>
          <a:bodyPr/>
          <a:lstStyle/>
          <a:p>
            <a:fld id="{0B5C3AF7-F1BB-4A51-9D34-B44E28E9252B}" type="datetimeFigureOut">
              <a:rPr lang="fr-FR" smtClean="0"/>
              <a:t>09/06/2021</a:t>
            </a:fld>
            <a:endParaRPr lang="fr-FR"/>
          </a:p>
        </p:txBody>
      </p:sp>
      <p:sp>
        <p:nvSpPr>
          <p:cNvPr id="4" name="Espace réservé du pied de page 3">
            <a:extLst>
              <a:ext uri="{FF2B5EF4-FFF2-40B4-BE49-F238E27FC236}">
                <a16:creationId xmlns:a16="http://schemas.microsoft.com/office/drawing/2014/main" id="{8F084FF8-6A50-4D5B-9EED-2A5FC04749E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E2469E1-F083-4C68-8179-F79ADA67A888}"/>
              </a:ext>
            </a:extLst>
          </p:cNvPr>
          <p:cNvSpPr>
            <a:spLocks noGrp="1"/>
          </p:cNvSpPr>
          <p:nvPr>
            <p:ph type="sldNum" sz="quarter" idx="12"/>
          </p:nvPr>
        </p:nvSpPr>
        <p:spPr/>
        <p:txBody>
          <a:bodyPr/>
          <a:lstStyle/>
          <a:p>
            <a:fld id="{43978C6F-79F1-487D-AB28-88F8E8D82C8B}" type="slidenum">
              <a:rPr lang="fr-FR" smtClean="0"/>
              <a:t>‹N°›</a:t>
            </a:fld>
            <a:endParaRPr lang="fr-FR"/>
          </a:p>
        </p:txBody>
      </p:sp>
    </p:spTree>
    <p:extLst>
      <p:ext uri="{BB962C8B-B14F-4D97-AF65-F5344CB8AC3E}">
        <p14:creationId xmlns:p14="http://schemas.microsoft.com/office/powerpoint/2010/main" val="3972806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9D810AF-8A9C-4D6A-AF11-275A9368E77C}"/>
              </a:ext>
            </a:extLst>
          </p:cNvPr>
          <p:cNvSpPr>
            <a:spLocks noGrp="1"/>
          </p:cNvSpPr>
          <p:nvPr>
            <p:ph type="dt" sz="half" idx="10"/>
          </p:nvPr>
        </p:nvSpPr>
        <p:spPr/>
        <p:txBody>
          <a:bodyPr/>
          <a:lstStyle/>
          <a:p>
            <a:fld id="{0B5C3AF7-F1BB-4A51-9D34-B44E28E9252B}" type="datetimeFigureOut">
              <a:rPr lang="fr-FR" smtClean="0"/>
              <a:t>09/06/2021</a:t>
            </a:fld>
            <a:endParaRPr lang="fr-FR"/>
          </a:p>
        </p:txBody>
      </p:sp>
      <p:sp>
        <p:nvSpPr>
          <p:cNvPr id="3" name="Espace réservé du pied de page 2">
            <a:extLst>
              <a:ext uri="{FF2B5EF4-FFF2-40B4-BE49-F238E27FC236}">
                <a16:creationId xmlns:a16="http://schemas.microsoft.com/office/drawing/2014/main" id="{EAD572D6-04DC-4A1C-9789-DD6904B2664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BDA239F1-8630-4447-A523-5BB4528DBF7C}"/>
              </a:ext>
            </a:extLst>
          </p:cNvPr>
          <p:cNvSpPr>
            <a:spLocks noGrp="1"/>
          </p:cNvSpPr>
          <p:nvPr>
            <p:ph type="sldNum" sz="quarter" idx="12"/>
          </p:nvPr>
        </p:nvSpPr>
        <p:spPr/>
        <p:txBody>
          <a:bodyPr/>
          <a:lstStyle/>
          <a:p>
            <a:fld id="{43978C6F-79F1-487D-AB28-88F8E8D82C8B}" type="slidenum">
              <a:rPr lang="fr-FR" smtClean="0"/>
              <a:t>‹N°›</a:t>
            </a:fld>
            <a:endParaRPr lang="fr-FR"/>
          </a:p>
        </p:txBody>
      </p:sp>
    </p:spTree>
    <p:extLst>
      <p:ext uri="{BB962C8B-B14F-4D97-AF65-F5344CB8AC3E}">
        <p14:creationId xmlns:p14="http://schemas.microsoft.com/office/powerpoint/2010/main" val="2667243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BE23F5-059E-42CB-8453-34A58EA440F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30D4C801-6193-4E92-B1D6-ED93ABEEAA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C20442E-BFC4-489D-9339-35AD96069A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51D2C2A-0105-49C7-8C95-9D517633C4C0}"/>
              </a:ext>
            </a:extLst>
          </p:cNvPr>
          <p:cNvSpPr>
            <a:spLocks noGrp="1"/>
          </p:cNvSpPr>
          <p:nvPr>
            <p:ph type="dt" sz="half" idx="10"/>
          </p:nvPr>
        </p:nvSpPr>
        <p:spPr/>
        <p:txBody>
          <a:bodyPr/>
          <a:lstStyle/>
          <a:p>
            <a:fld id="{0B5C3AF7-F1BB-4A51-9D34-B44E28E9252B}" type="datetimeFigureOut">
              <a:rPr lang="fr-FR" smtClean="0"/>
              <a:t>09/06/2021</a:t>
            </a:fld>
            <a:endParaRPr lang="fr-FR"/>
          </a:p>
        </p:txBody>
      </p:sp>
      <p:sp>
        <p:nvSpPr>
          <p:cNvPr id="6" name="Espace réservé du pied de page 5">
            <a:extLst>
              <a:ext uri="{FF2B5EF4-FFF2-40B4-BE49-F238E27FC236}">
                <a16:creationId xmlns:a16="http://schemas.microsoft.com/office/drawing/2014/main" id="{69BB0BFA-2358-4866-AD5C-40D2BE45B3C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B2F9B40-BA78-4168-AB27-866893BCE281}"/>
              </a:ext>
            </a:extLst>
          </p:cNvPr>
          <p:cNvSpPr>
            <a:spLocks noGrp="1"/>
          </p:cNvSpPr>
          <p:nvPr>
            <p:ph type="sldNum" sz="quarter" idx="12"/>
          </p:nvPr>
        </p:nvSpPr>
        <p:spPr/>
        <p:txBody>
          <a:bodyPr/>
          <a:lstStyle/>
          <a:p>
            <a:fld id="{43978C6F-79F1-487D-AB28-88F8E8D82C8B}" type="slidenum">
              <a:rPr lang="fr-FR" smtClean="0"/>
              <a:t>‹N°›</a:t>
            </a:fld>
            <a:endParaRPr lang="fr-FR"/>
          </a:p>
        </p:txBody>
      </p:sp>
    </p:spTree>
    <p:extLst>
      <p:ext uri="{BB962C8B-B14F-4D97-AF65-F5344CB8AC3E}">
        <p14:creationId xmlns:p14="http://schemas.microsoft.com/office/powerpoint/2010/main" val="136934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0D1390-BFE0-4F04-9C2B-26A1F13653F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49899ED-554A-44C8-82B5-75AC5A3588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4B6BA12-E5C3-4AC4-ACC5-AA84F781B0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740B9F3-9CDC-4798-9222-D144FBB8E99B}"/>
              </a:ext>
            </a:extLst>
          </p:cNvPr>
          <p:cNvSpPr>
            <a:spLocks noGrp="1"/>
          </p:cNvSpPr>
          <p:nvPr>
            <p:ph type="dt" sz="half" idx="10"/>
          </p:nvPr>
        </p:nvSpPr>
        <p:spPr/>
        <p:txBody>
          <a:bodyPr/>
          <a:lstStyle/>
          <a:p>
            <a:fld id="{0B5C3AF7-F1BB-4A51-9D34-B44E28E9252B}" type="datetimeFigureOut">
              <a:rPr lang="fr-FR" smtClean="0"/>
              <a:t>09/06/2021</a:t>
            </a:fld>
            <a:endParaRPr lang="fr-FR"/>
          </a:p>
        </p:txBody>
      </p:sp>
      <p:sp>
        <p:nvSpPr>
          <p:cNvPr id="6" name="Espace réservé du pied de page 5">
            <a:extLst>
              <a:ext uri="{FF2B5EF4-FFF2-40B4-BE49-F238E27FC236}">
                <a16:creationId xmlns:a16="http://schemas.microsoft.com/office/drawing/2014/main" id="{5385D3BD-75ED-4048-A4ED-20198C2D2D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B9FFFAF-F607-4293-8488-229BB5B9AB7F}"/>
              </a:ext>
            </a:extLst>
          </p:cNvPr>
          <p:cNvSpPr>
            <a:spLocks noGrp="1"/>
          </p:cNvSpPr>
          <p:nvPr>
            <p:ph type="sldNum" sz="quarter" idx="12"/>
          </p:nvPr>
        </p:nvSpPr>
        <p:spPr/>
        <p:txBody>
          <a:bodyPr/>
          <a:lstStyle/>
          <a:p>
            <a:fld id="{43978C6F-79F1-487D-AB28-88F8E8D82C8B}" type="slidenum">
              <a:rPr lang="fr-FR" smtClean="0"/>
              <a:t>‹N°›</a:t>
            </a:fld>
            <a:endParaRPr lang="fr-FR"/>
          </a:p>
        </p:txBody>
      </p:sp>
    </p:spTree>
    <p:extLst>
      <p:ext uri="{BB962C8B-B14F-4D97-AF65-F5344CB8AC3E}">
        <p14:creationId xmlns:p14="http://schemas.microsoft.com/office/powerpoint/2010/main" val="51343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3B3ABD-0107-4657-8905-9A544A3AC0F5}"/>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5F7F43EE-9E26-4C0B-B8A1-CCA8ED44210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A00C362-6D99-44B9-9992-C43B8F5BF1CB}"/>
              </a:ext>
            </a:extLst>
          </p:cNvPr>
          <p:cNvSpPr>
            <a:spLocks noGrp="1"/>
          </p:cNvSpPr>
          <p:nvPr>
            <p:ph type="dt" sz="half" idx="10"/>
          </p:nvPr>
        </p:nvSpPr>
        <p:spPr/>
        <p:txBody>
          <a:bodyPr/>
          <a:lstStyle/>
          <a:p>
            <a:fld id="{0B5C3AF7-F1BB-4A51-9D34-B44E28E9252B}" type="datetimeFigureOut">
              <a:rPr lang="fr-FR" smtClean="0"/>
              <a:t>09/06/2021</a:t>
            </a:fld>
            <a:endParaRPr lang="fr-FR"/>
          </a:p>
        </p:txBody>
      </p:sp>
      <p:sp>
        <p:nvSpPr>
          <p:cNvPr id="5" name="Espace réservé du pied de page 4">
            <a:extLst>
              <a:ext uri="{FF2B5EF4-FFF2-40B4-BE49-F238E27FC236}">
                <a16:creationId xmlns:a16="http://schemas.microsoft.com/office/drawing/2014/main" id="{4BD92AAC-4094-4AC8-B57B-C78A16CC2C6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866A7A9-6FFB-42AD-934A-E3C3B66D343E}"/>
              </a:ext>
            </a:extLst>
          </p:cNvPr>
          <p:cNvSpPr>
            <a:spLocks noGrp="1"/>
          </p:cNvSpPr>
          <p:nvPr>
            <p:ph type="sldNum" sz="quarter" idx="12"/>
          </p:nvPr>
        </p:nvSpPr>
        <p:spPr/>
        <p:txBody>
          <a:bodyPr/>
          <a:lstStyle/>
          <a:p>
            <a:fld id="{43978C6F-79F1-487D-AB28-88F8E8D82C8B}" type="slidenum">
              <a:rPr lang="fr-FR" smtClean="0"/>
              <a:t>‹N°›</a:t>
            </a:fld>
            <a:endParaRPr lang="fr-FR"/>
          </a:p>
        </p:txBody>
      </p:sp>
    </p:spTree>
    <p:extLst>
      <p:ext uri="{BB962C8B-B14F-4D97-AF65-F5344CB8AC3E}">
        <p14:creationId xmlns:p14="http://schemas.microsoft.com/office/powerpoint/2010/main" val="713096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F420C2C-23C4-427E-9378-F9AC60330DD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59908C4-137F-4453-9E7E-798274AC19D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5DC13AE-2C5C-478D-91E4-ED66C8957BD4}"/>
              </a:ext>
            </a:extLst>
          </p:cNvPr>
          <p:cNvSpPr>
            <a:spLocks noGrp="1"/>
          </p:cNvSpPr>
          <p:nvPr>
            <p:ph type="dt" sz="half" idx="10"/>
          </p:nvPr>
        </p:nvSpPr>
        <p:spPr/>
        <p:txBody>
          <a:bodyPr/>
          <a:lstStyle/>
          <a:p>
            <a:fld id="{0B5C3AF7-F1BB-4A51-9D34-B44E28E9252B}" type="datetimeFigureOut">
              <a:rPr lang="fr-FR" smtClean="0"/>
              <a:t>09/06/2021</a:t>
            </a:fld>
            <a:endParaRPr lang="fr-FR"/>
          </a:p>
        </p:txBody>
      </p:sp>
      <p:sp>
        <p:nvSpPr>
          <p:cNvPr id="5" name="Espace réservé du pied de page 4">
            <a:extLst>
              <a:ext uri="{FF2B5EF4-FFF2-40B4-BE49-F238E27FC236}">
                <a16:creationId xmlns:a16="http://schemas.microsoft.com/office/drawing/2014/main" id="{3DD246B7-5A91-4583-B089-1C8FFDACA23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CA187FD-6F7A-4FFC-A759-3E1600C3B5BB}"/>
              </a:ext>
            </a:extLst>
          </p:cNvPr>
          <p:cNvSpPr>
            <a:spLocks noGrp="1"/>
          </p:cNvSpPr>
          <p:nvPr>
            <p:ph type="sldNum" sz="quarter" idx="12"/>
          </p:nvPr>
        </p:nvSpPr>
        <p:spPr/>
        <p:txBody>
          <a:bodyPr/>
          <a:lstStyle/>
          <a:p>
            <a:fld id="{43978C6F-79F1-487D-AB28-88F8E8D82C8B}" type="slidenum">
              <a:rPr lang="fr-FR" smtClean="0"/>
              <a:t>‹N°›</a:t>
            </a:fld>
            <a:endParaRPr lang="fr-FR"/>
          </a:p>
        </p:txBody>
      </p:sp>
    </p:spTree>
    <p:extLst>
      <p:ext uri="{BB962C8B-B14F-4D97-AF65-F5344CB8AC3E}">
        <p14:creationId xmlns:p14="http://schemas.microsoft.com/office/powerpoint/2010/main" val="3088531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99DC543-40CA-40FF-99F3-3FE0C3A708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F1C4507C-5501-482F-9E81-6C7551A7D9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5CE004D-8F44-43FC-9FBF-03AB016617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5C3AF7-F1BB-4A51-9D34-B44E28E9252B}" type="datetimeFigureOut">
              <a:rPr lang="fr-FR" smtClean="0"/>
              <a:t>09/06/2021</a:t>
            </a:fld>
            <a:endParaRPr lang="fr-FR"/>
          </a:p>
        </p:txBody>
      </p:sp>
      <p:sp>
        <p:nvSpPr>
          <p:cNvPr id="5" name="Espace réservé du pied de page 4">
            <a:extLst>
              <a:ext uri="{FF2B5EF4-FFF2-40B4-BE49-F238E27FC236}">
                <a16:creationId xmlns:a16="http://schemas.microsoft.com/office/drawing/2014/main" id="{6E6F8EF8-821F-4468-AD3B-814C06B528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50D5E9C3-9467-4904-8DEB-010225DE8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978C6F-79F1-487D-AB28-88F8E8D82C8B}" type="slidenum">
              <a:rPr lang="fr-FR" smtClean="0"/>
              <a:t>‹N°›</a:t>
            </a:fld>
            <a:endParaRPr lang="fr-FR"/>
          </a:p>
        </p:txBody>
      </p:sp>
    </p:spTree>
    <p:extLst>
      <p:ext uri="{BB962C8B-B14F-4D97-AF65-F5344CB8AC3E}">
        <p14:creationId xmlns:p14="http://schemas.microsoft.com/office/powerpoint/2010/main" val="2736675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2C3B65B-0EFF-40B5-8736-56F8AC35ED91}"/>
              </a:ext>
            </a:extLst>
          </p:cNvPr>
          <p:cNvSpPr txBox="1"/>
          <p:nvPr/>
        </p:nvSpPr>
        <p:spPr>
          <a:xfrm>
            <a:off x="919109" y="1905506"/>
            <a:ext cx="10353781" cy="3046988"/>
          </a:xfrm>
          <a:prstGeom prst="rect">
            <a:avLst/>
          </a:prstGeom>
          <a:solidFill>
            <a:schemeClr val="tx2">
              <a:lumMod val="20000"/>
              <a:lumOff val="80000"/>
            </a:schemeClr>
          </a:solidFill>
          <a:ln>
            <a:solidFill>
              <a:schemeClr val="tx2">
                <a:lumMod val="40000"/>
                <a:lumOff val="60000"/>
              </a:schemeClr>
            </a:solidFill>
          </a:ln>
        </p:spPr>
        <p:txBody>
          <a:bodyPr wrap="square" rtlCol="0">
            <a:spAutoFit/>
          </a:bodyPr>
          <a:lstStyle/>
          <a:p>
            <a:pPr algn="just"/>
            <a:r>
              <a:rPr lang="fr-FR" sz="2400" b="1" dirty="0">
                <a:solidFill>
                  <a:schemeClr val="tx2">
                    <a:lumMod val="75000"/>
                  </a:schemeClr>
                </a:solidFill>
              </a:rPr>
              <a:t>Un système de gestion de base de données relationnelle (</a:t>
            </a:r>
            <a:r>
              <a:rPr lang="en-US" sz="2400" b="1" dirty="0">
                <a:solidFill>
                  <a:schemeClr val="tx2">
                    <a:lumMod val="75000"/>
                  </a:schemeClr>
                </a:solidFill>
              </a:rPr>
              <a:t>RDBMS</a:t>
            </a:r>
            <a:r>
              <a:rPr lang="fr-FR" sz="2400" b="1" dirty="0">
                <a:solidFill>
                  <a:schemeClr val="tx2">
                    <a:lumMod val="75000"/>
                  </a:schemeClr>
                </a:solidFill>
              </a:rPr>
              <a:t>) est un ensemble de programmes et de capacités qui permettent aux équipes informatiques et autres de créer, mettre à jour, administrer et interagir avec une base de données relationnelle. Les </a:t>
            </a:r>
            <a:r>
              <a:rPr lang="en-US" sz="2400" b="1" dirty="0">
                <a:solidFill>
                  <a:schemeClr val="tx2">
                    <a:lumMod val="75000"/>
                  </a:schemeClr>
                </a:solidFill>
              </a:rPr>
              <a:t>RDBMS</a:t>
            </a:r>
            <a:r>
              <a:rPr lang="fr-FR" sz="2400" b="1" dirty="0">
                <a:solidFill>
                  <a:schemeClr val="tx2">
                    <a:lumMod val="75000"/>
                  </a:schemeClr>
                </a:solidFill>
              </a:rPr>
              <a:t> stockent les données sous forme de tableaux, la plupart des systèmes commerciaux de gestion de bases de données relationnelles utilisant SQL (</a:t>
            </a:r>
            <a:r>
              <a:rPr lang="fr-FR" sz="2400" b="1" dirty="0" err="1">
                <a:solidFill>
                  <a:schemeClr val="tx2">
                    <a:lumMod val="75000"/>
                  </a:schemeClr>
                </a:solidFill>
              </a:rPr>
              <a:t>Structured</a:t>
            </a:r>
            <a:r>
              <a:rPr lang="fr-FR" sz="2400" b="1" dirty="0">
                <a:solidFill>
                  <a:schemeClr val="tx2">
                    <a:lumMod val="75000"/>
                  </a:schemeClr>
                </a:solidFill>
              </a:rPr>
              <a:t> </a:t>
            </a:r>
            <a:r>
              <a:rPr lang="fr-FR" sz="2400" b="1" dirty="0" err="1">
                <a:solidFill>
                  <a:schemeClr val="tx2">
                    <a:lumMod val="75000"/>
                  </a:schemeClr>
                </a:solidFill>
              </a:rPr>
              <a:t>Query</a:t>
            </a:r>
            <a:r>
              <a:rPr lang="fr-FR" sz="2400" b="1" dirty="0">
                <a:solidFill>
                  <a:schemeClr val="tx2">
                    <a:lumMod val="75000"/>
                  </a:schemeClr>
                </a:solidFill>
              </a:rPr>
              <a:t> </a:t>
            </a:r>
            <a:r>
              <a:rPr lang="fr-FR" sz="2400" b="1" dirty="0" err="1">
                <a:solidFill>
                  <a:schemeClr val="tx2">
                    <a:lumMod val="75000"/>
                  </a:schemeClr>
                </a:solidFill>
              </a:rPr>
              <a:t>Language</a:t>
            </a:r>
            <a:r>
              <a:rPr lang="fr-FR" sz="2400" b="1" dirty="0">
                <a:solidFill>
                  <a:schemeClr val="tx2">
                    <a:lumMod val="75000"/>
                  </a:schemeClr>
                </a:solidFill>
              </a:rPr>
              <a:t>) pour accéder à la base de données. Cependant, puisque SQL a été inventé après le développement initial du modèle relationnel, il n'est pas nécessaire pour l'utilisation du </a:t>
            </a:r>
            <a:r>
              <a:rPr lang="en-US" sz="2400" b="1" dirty="0">
                <a:solidFill>
                  <a:schemeClr val="tx2">
                    <a:lumMod val="75000"/>
                  </a:schemeClr>
                </a:solidFill>
              </a:rPr>
              <a:t>RDBMS</a:t>
            </a:r>
            <a:r>
              <a:rPr lang="fr-FR" sz="2400" b="1" dirty="0">
                <a:solidFill>
                  <a:schemeClr val="tx2">
                    <a:lumMod val="75000"/>
                  </a:schemeClr>
                </a:solidFill>
              </a:rPr>
              <a:t>.</a:t>
            </a:r>
          </a:p>
        </p:txBody>
      </p:sp>
      <p:sp>
        <p:nvSpPr>
          <p:cNvPr id="3" name="ZoneTexte 2">
            <a:extLst>
              <a:ext uri="{FF2B5EF4-FFF2-40B4-BE49-F238E27FC236}">
                <a16:creationId xmlns:a16="http://schemas.microsoft.com/office/drawing/2014/main" id="{7AA605E0-3D8C-453F-8839-EC315D6E6115}"/>
              </a:ext>
            </a:extLst>
          </p:cNvPr>
          <p:cNvSpPr txBox="1"/>
          <p:nvPr/>
        </p:nvSpPr>
        <p:spPr>
          <a:xfrm>
            <a:off x="10797708" y="0"/>
            <a:ext cx="1394292" cy="369332"/>
          </a:xfrm>
          <a:prstGeom prst="rect">
            <a:avLst/>
          </a:prstGeom>
          <a:solidFill>
            <a:schemeClr val="tx2">
              <a:lumMod val="60000"/>
              <a:lumOff val="40000"/>
            </a:schemeClr>
          </a:solidFill>
          <a:ln>
            <a:solidFill>
              <a:schemeClr val="tx2">
                <a:lumMod val="75000"/>
              </a:schemeClr>
            </a:solidFill>
          </a:ln>
        </p:spPr>
        <p:txBody>
          <a:bodyPr wrap="none" rtlCol="0">
            <a:spAutoFit/>
          </a:bodyPr>
          <a:lstStyle/>
          <a:p>
            <a:r>
              <a:rPr lang="fr-FR" dirty="0">
                <a:solidFill>
                  <a:schemeClr val="tx2">
                    <a:lumMod val="20000"/>
                    <a:lumOff val="80000"/>
                  </a:schemeClr>
                </a:solidFill>
              </a:rPr>
              <a:t>BAHRI Mekki</a:t>
            </a:r>
          </a:p>
        </p:txBody>
      </p:sp>
    </p:spTree>
    <p:extLst>
      <p:ext uri="{BB962C8B-B14F-4D97-AF65-F5344CB8AC3E}">
        <p14:creationId xmlns:p14="http://schemas.microsoft.com/office/powerpoint/2010/main" val="1496307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4CDBDD66-FCFF-4457-8CF1-764E2C08D7DB}"/>
              </a:ext>
            </a:extLst>
          </p:cNvPr>
          <p:cNvSpPr txBox="1"/>
          <p:nvPr/>
        </p:nvSpPr>
        <p:spPr>
          <a:xfrm>
            <a:off x="9312000" y="0"/>
            <a:ext cx="2880000" cy="707886"/>
          </a:xfrm>
          <a:prstGeom prst="rect">
            <a:avLst/>
          </a:prstGeom>
          <a:solidFill>
            <a:schemeClr val="accent1">
              <a:lumMod val="50000"/>
            </a:schemeClr>
          </a:solidFill>
        </p:spPr>
        <p:txBody>
          <a:bodyPr wrap="square" rtlCol="0">
            <a:spAutoFit/>
          </a:bodyPr>
          <a:lstStyle/>
          <a:p>
            <a:pPr algn="r"/>
            <a:r>
              <a:rPr lang="fr-FR" sz="4000" b="1" i="1" dirty="0">
                <a:solidFill>
                  <a:schemeClr val="accent1"/>
                </a:solidFill>
                <a:effectLst>
                  <a:outerShdw blurRad="38100" dist="38100" dir="2700000" algn="tl">
                    <a:srgbClr val="000000">
                      <a:alpha val="43137"/>
                    </a:srgbClr>
                  </a:outerShdw>
                </a:effectLst>
              </a:rPr>
              <a:t>MySQL</a:t>
            </a:r>
          </a:p>
        </p:txBody>
      </p:sp>
      <p:sp>
        <p:nvSpPr>
          <p:cNvPr id="6" name="Flèche : pentagone 5">
            <a:extLst>
              <a:ext uri="{FF2B5EF4-FFF2-40B4-BE49-F238E27FC236}">
                <a16:creationId xmlns:a16="http://schemas.microsoft.com/office/drawing/2014/main" id="{BBD9BA8C-8BCC-495C-8F18-D9CE8C6F084E}"/>
              </a:ext>
            </a:extLst>
          </p:cNvPr>
          <p:cNvSpPr/>
          <p:nvPr/>
        </p:nvSpPr>
        <p:spPr>
          <a:xfrm>
            <a:off x="0" y="1651382"/>
            <a:ext cx="2880000" cy="72000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t>Présentation général :</a:t>
            </a:r>
          </a:p>
        </p:txBody>
      </p:sp>
      <p:sp>
        <p:nvSpPr>
          <p:cNvPr id="7" name="Flèche : pentagone 6">
            <a:extLst>
              <a:ext uri="{FF2B5EF4-FFF2-40B4-BE49-F238E27FC236}">
                <a16:creationId xmlns:a16="http://schemas.microsoft.com/office/drawing/2014/main" id="{7705DB4D-C132-4E5D-958A-19965AED8DCC}"/>
              </a:ext>
            </a:extLst>
          </p:cNvPr>
          <p:cNvSpPr/>
          <p:nvPr/>
        </p:nvSpPr>
        <p:spPr>
          <a:xfrm>
            <a:off x="0" y="4599470"/>
            <a:ext cx="2880000" cy="72000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t>Principe de fonctionnement :</a:t>
            </a:r>
          </a:p>
        </p:txBody>
      </p:sp>
      <p:sp>
        <p:nvSpPr>
          <p:cNvPr id="10" name="Rectangle : carré corné 9">
            <a:extLst>
              <a:ext uri="{FF2B5EF4-FFF2-40B4-BE49-F238E27FC236}">
                <a16:creationId xmlns:a16="http://schemas.microsoft.com/office/drawing/2014/main" id="{82D4E3C4-3264-44AE-994E-682559D273F6}"/>
              </a:ext>
            </a:extLst>
          </p:cNvPr>
          <p:cNvSpPr/>
          <p:nvPr/>
        </p:nvSpPr>
        <p:spPr>
          <a:xfrm>
            <a:off x="3047998" y="1651382"/>
            <a:ext cx="8951495" cy="1636295"/>
          </a:xfrm>
          <a:prstGeom prst="foldedCorner">
            <a:avLst/>
          </a:prstGeom>
          <a:solidFill>
            <a:schemeClr val="bg2"/>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fr-FR" sz="1600" b="1" dirty="0">
              <a:solidFill>
                <a:schemeClr val="tx1"/>
              </a:solidFill>
            </a:endParaRPr>
          </a:p>
          <a:p>
            <a:pPr algn="just"/>
            <a:r>
              <a:rPr lang="fr-FR" sz="1600" b="1" dirty="0">
                <a:solidFill>
                  <a:schemeClr val="tx1"/>
                </a:solidFill>
              </a:rPr>
              <a:t>MySQL est le système de gestion de base de données relationnelle le plus populaire.</a:t>
            </a:r>
          </a:p>
          <a:p>
            <a:pPr algn="just"/>
            <a:r>
              <a:rPr lang="fr-FR" sz="1600" b="1" dirty="0">
                <a:solidFill>
                  <a:schemeClr val="tx1"/>
                </a:solidFill>
              </a:rPr>
              <a:t>Des conditions sont toutefois fixées par la GPL : GNU Public Licence. Une version commerciale est proposée aux personnes souhaitant plus de flexibilité et profiter d’un support additionnel.</a:t>
            </a:r>
          </a:p>
          <a:p>
            <a:pPr algn="just"/>
            <a:r>
              <a:rPr lang="fr-FR" sz="1600" b="1" dirty="0">
                <a:solidFill>
                  <a:schemeClr val="tx1"/>
                </a:solidFill>
              </a:rPr>
              <a:t>L’autre particularité de MySQL est son modèle  « Client-serveur ». Pour faire simple, les ordinateurs sur lesquels est installé et exécuté MySQL sont appelés  «  clients »  . Chaque fois que les clients ont besoin d’accéder aux données, ils se connectent au serveur RDBMS.</a:t>
            </a:r>
          </a:p>
        </p:txBody>
      </p:sp>
      <p:sp>
        <p:nvSpPr>
          <p:cNvPr id="11" name="Rectangle : carré corné 10">
            <a:extLst>
              <a:ext uri="{FF2B5EF4-FFF2-40B4-BE49-F238E27FC236}">
                <a16:creationId xmlns:a16="http://schemas.microsoft.com/office/drawing/2014/main" id="{409789E1-9C4B-4E0A-8B0E-6273106B5933}"/>
              </a:ext>
            </a:extLst>
          </p:cNvPr>
          <p:cNvSpPr/>
          <p:nvPr/>
        </p:nvSpPr>
        <p:spPr>
          <a:xfrm>
            <a:off x="3047998" y="4599470"/>
            <a:ext cx="8951495" cy="1636295"/>
          </a:xfrm>
          <a:prstGeom prst="foldedCorner">
            <a:avLst/>
          </a:prstGeom>
          <a:solidFill>
            <a:schemeClr val="bg2"/>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fr-FR" sz="1400" b="1" dirty="0">
              <a:solidFill>
                <a:schemeClr val="tx1"/>
              </a:solidFill>
            </a:endParaRPr>
          </a:p>
          <a:p>
            <a:pPr algn="just"/>
            <a:r>
              <a:rPr lang="fr-FR" sz="1400" b="1" dirty="0">
                <a:solidFill>
                  <a:schemeClr val="tx1"/>
                </a:solidFill>
              </a:rPr>
              <a:t>Les appareils clients se connectent à un serveur par le biais d’un réseau spécifique. Chaque client émet une requête à partir de la GUI (interface graphique) sur son écran. En réponse, le serveur produit le résultat désiré à condition de comprendre l’instruction.</a:t>
            </a:r>
          </a:p>
          <a:p>
            <a:pPr algn="just"/>
            <a:r>
              <a:rPr lang="fr-FR" sz="1400" b="1" dirty="0">
                <a:solidFill>
                  <a:schemeClr val="tx1"/>
                </a:solidFill>
              </a:rPr>
              <a:t>En général, le processus se décompose en trois étapes. Tout d’abord, MySQL crée une base de données. Les clients effectuent ensuite des requêtes en SQL. Enfin, l’application du serveur répond en fournissant l’information demandée qui apparaît alors sur l’écran du client.</a:t>
            </a:r>
          </a:p>
          <a:p>
            <a:pPr algn="just"/>
            <a:r>
              <a:rPr lang="fr-FR" sz="1400" b="1" dirty="0">
                <a:solidFill>
                  <a:schemeClr val="tx1"/>
                </a:solidFill>
              </a:rPr>
              <a:t>II existe une large diversité de GUI pour MySQL. Parmi les plus populaires, on compte MySQL </a:t>
            </a:r>
            <a:r>
              <a:rPr lang="fr-FR" sz="1400" b="1" dirty="0" err="1">
                <a:solidFill>
                  <a:schemeClr val="tx1"/>
                </a:solidFill>
              </a:rPr>
              <a:t>WorkBench</a:t>
            </a:r>
            <a:r>
              <a:rPr lang="fr-FR" sz="1400" b="1" dirty="0">
                <a:solidFill>
                  <a:schemeClr val="tx1"/>
                </a:solidFill>
              </a:rPr>
              <a:t>, </a:t>
            </a:r>
            <a:r>
              <a:rPr lang="fr-FR" sz="1400" b="1" dirty="0" err="1">
                <a:solidFill>
                  <a:schemeClr val="tx1"/>
                </a:solidFill>
              </a:rPr>
              <a:t>SequelPro</a:t>
            </a:r>
            <a:r>
              <a:rPr lang="fr-FR" sz="1400" b="1" dirty="0">
                <a:solidFill>
                  <a:schemeClr val="tx1"/>
                </a:solidFill>
              </a:rPr>
              <a:t>, </a:t>
            </a:r>
            <a:r>
              <a:rPr lang="fr-FR" sz="1400" b="1" dirty="0" err="1">
                <a:solidFill>
                  <a:schemeClr val="tx1"/>
                </a:solidFill>
              </a:rPr>
              <a:t>DBVisualizer</a:t>
            </a:r>
            <a:r>
              <a:rPr lang="fr-FR" sz="1400" b="1" dirty="0">
                <a:solidFill>
                  <a:schemeClr val="tx1"/>
                </a:solidFill>
              </a:rPr>
              <a:t>, et </a:t>
            </a:r>
            <a:r>
              <a:rPr lang="fr-FR" sz="1400" b="1" dirty="0" err="1">
                <a:solidFill>
                  <a:schemeClr val="tx1"/>
                </a:solidFill>
              </a:rPr>
              <a:t>Navicat</a:t>
            </a:r>
            <a:r>
              <a:rPr lang="fr-FR" sz="1400" b="1" dirty="0">
                <a:solidFill>
                  <a:schemeClr val="tx1"/>
                </a:solidFill>
              </a:rPr>
              <a:t> DB Admin Tool. Certaines sont gratuites, d’autres sont payantes.</a:t>
            </a:r>
          </a:p>
        </p:txBody>
      </p:sp>
    </p:spTree>
    <p:extLst>
      <p:ext uri="{BB962C8B-B14F-4D97-AF65-F5344CB8AC3E}">
        <p14:creationId xmlns:p14="http://schemas.microsoft.com/office/powerpoint/2010/main" val="3291045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14FF68B3-B2F6-424A-8010-1D2594E9BA11}"/>
              </a:ext>
            </a:extLst>
          </p:cNvPr>
          <p:cNvSpPr txBox="1"/>
          <p:nvPr/>
        </p:nvSpPr>
        <p:spPr>
          <a:xfrm>
            <a:off x="9597508" y="0"/>
            <a:ext cx="2594492" cy="707886"/>
          </a:xfrm>
          <a:prstGeom prst="rect">
            <a:avLst/>
          </a:prstGeom>
          <a:solidFill>
            <a:schemeClr val="accent1">
              <a:lumMod val="50000"/>
            </a:schemeClr>
          </a:solidFill>
        </p:spPr>
        <p:txBody>
          <a:bodyPr wrap="none" rtlCol="0">
            <a:spAutoFit/>
          </a:bodyPr>
          <a:lstStyle/>
          <a:p>
            <a:pPr algn="r"/>
            <a:r>
              <a:rPr lang="fr-FR" sz="4000" b="1" i="1" dirty="0">
                <a:solidFill>
                  <a:schemeClr val="accent1"/>
                </a:solidFill>
                <a:effectLst>
                  <a:outerShdw blurRad="38100" dist="38100" dir="2700000" algn="tl">
                    <a:srgbClr val="000000">
                      <a:alpha val="43137"/>
                    </a:srgbClr>
                  </a:outerShdw>
                </a:effectLst>
              </a:rPr>
              <a:t>PostgreSQL</a:t>
            </a:r>
          </a:p>
        </p:txBody>
      </p:sp>
      <p:sp>
        <p:nvSpPr>
          <p:cNvPr id="6" name="Flèche : pentagone 5">
            <a:extLst>
              <a:ext uri="{FF2B5EF4-FFF2-40B4-BE49-F238E27FC236}">
                <a16:creationId xmlns:a16="http://schemas.microsoft.com/office/drawing/2014/main" id="{E933E356-6AF1-433D-A792-C1F7182D547A}"/>
              </a:ext>
            </a:extLst>
          </p:cNvPr>
          <p:cNvSpPr/>
          <p:nvPr/>
        </p:nvSpPr>
        <p:spPr>
          <a:xfrm>
            <a:off x="0" y="1705973"/>
            <a:ext cx="2880000" cy="72000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t>Présentation général :</a:t>
            </a:r>
          </a:p>
        </p:txBody>
      </p:sp>
      <p:sp>
        <p:nvSpPr>
          <p:cNvPr id="7" name="Flèche : pentagone 6">
            <a:extLst>
              <a:ext uri="{FF2B5EF4-FFF2-40B4-BE49-F238E27FC236}">
                <a16:creationId xmlns:a16="http://schemas.microsoft.com/office/drawing/2014/main" id="{2CF9FB32-6C5B-4B96-B4D5-D1B83E432E88}"/>
              </a:ext>
            </a:extLst>
          </p:cNvPr>
          <p:cNvSpPr/>
          <p:nvPr/>
        </p:nvSpPr>
        <p:spPr>
          <a:xfrm>
            <a:off x="0" y="4558526"/>
            <a:ext cx="2880000" cy="72000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t>Principe de fonctionnement :</a:t>
            </a:r>
          </a:p>
        </p:txBody>
      </p:sp>
      <p:sp>
        <p:nvSpPr>
          <p:cNvPr id="10" name="Rectangle : carré corné 9">
            <a:extLst>
              <a:ext uri="{FF2B5EF4-FFF2-40B4-BE49-F238E27FC236}">
                <a16:creationId xmlns:a16="http://schemas.microsoft.com/office/drawing/2014/main" id="{AC88AAA6-3347-4B25-A8F3-D2B1B2F89D48}"/>
              </a:ext>
            </a:extLst>
          </p:cNvPr>
          <p:cNvSpPr/>
          <p:nvPr/>
        </p:nvSpPr>
        <p:spPr>
          <a:xfrm>
            <a:off x="3047998" y="1705973"/>
            <a:ext cx="8951495" cy="1636295"/>
          </a:xfrm>
          <a:prstGeom prst="foldedCorner">
            <a:avLst/>
          </a:prstGeom>
          <a:solidFill>
            <a:schemeClr val="bg2"/>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fr-FR" sz="1600" b="1" dirty="0">
              <a:solidFill>
                <a:schemeClr val="tx1"/>
              </a:solidFill>
            </a:endParaRPr>
          </a:p>
          <a:p>
            <a:pPr algn="just"/>
            <a:r>
              <a:rPr lang="fr-FR" sz="1600" b="1" dirty="0">
                <a:solidFill>
                  <a:schemeClr val="tx1"/>
                </a:solidFill>
              </a:rPr>
              <a:t>PostgreSQL est un système de gestion de base de données de classe d’entreprise open source. Il est compatible avec SQL pour les requêtes relationnelles, et avec JSON pour les requêtes non-relationnelles.</a:t>
            </a:r>
          </a:p>
          <a:p>
            <a:pPr algn="just"/>
            <a:r>
              <a:rPr lang="fr-FR" sz="1600" b="1" dirty="0">
                <a:solidFill>
                  <a:schemeClr val="tx1"/>
                </a:solidFill>
              </a:rPr>
              <a:t>Ce DBMS prend en charge de nombreux types de données et propose des fonctionnalités que l’on retrouve habituellement uniquement sur les systèmes commerciaux comme Oracle et SQL Server</a:t>
            </a:r>
          </a:p>
        </p:txBody>
      </p:sp>
      <p:sp>
        <p:nvSpPr>
          <p:cNvPr id="11" name="Rectangle : carré corné 10">
            <a:extLst>
              <a:ext uri="{FF2B5EF4-FFF2-40B4-BE49-F238E27FC236}">
                <a16:creationId xmlns:a16="http://schemas.microsoft.com/office/drawing/2014/main" id="{09D03830-E39B-4817-B086-155344B7D256}"/>
              </a:ext>
            </a:extLst>
          </p:cNvPr>
          <p:cNvSpPr/>
          <p:nvPr/>
        </p:nvSpPr>
        <p:spPr>
          <a:xfrm>
            <a:off x="3047998" y="4558526"/>
            <a:ext cx="8951495" cy="1636295"/>
          </a:xfrm>
          <a:prstGeom prst="foldedCorner">
            <a:avLst/>
          </a:prstGeom>
          <a:solidFill>
            <a:schemeClr val="bg2"/>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1600" b="1" dirty="0">
                <a:solidFill>
                  <a:schemeClr val="tx1"/>
                </a:solidFill>
              </a:rPr>
              <a:t>PostgreSQL est une application client/serveur. Le serveur gère les fichiers de la base de données,</a:t>
            </a:r>
          </a:p>
          <a:p>
            <a:pPr algn="just"/>
            <a:r>
              <a:rPr lang="fr-FR" sz="1600" b="1" dirty="0">
                <a:solidFill>
                  <a:schemeClr val="tx1"/>
                </a:solidFill>
              </a:rPr>
              <a:t>accepte les connexions des clients, et effectue les opérations demandées par les clients (requêtes...)</a:t>
            </a:r>
          </a:p>
          <a:p>
            <a:pPr algn="just"/>
            <a:r>
              <a:rPr lang="fr-FR" sz="1600" b="1" dirty="0">
                <a:solidFill>
                  <a:schemeClr val="tx1"/>
                </a:solidFill>
              </a:rPr>
              <a:t>Le client peut prendre de nombreuses formes. Il existe par exemple un client en ligne de commande</a:t>
            </a:r>
          </a:p>
          <a:p>
            <a:pPr algn="just"/>
            <a:r>
              <a:rPr lang="fr-FR" sz="1600" b="1" dirty="0">
                <a:solidFill>
                  <a:schemeClr val="tx1"/>
                </a:solidFill>
              </a:rPr>
              <a:t>(</a:t>
            </a:r>
            <a:r>
              <a:rPr lang="fr-FR" sz="1600" b="1" dirty="0" err="1">
                <a:solidFill>
                  <a:schemeClr val="tx1"/>
                </a:solidFill>
              </a:rPr>
              <a:t>psql</a:t>
            </a:r>
            <a:r>
              <a:rPr lang="fr-FR" sz="1600" b="1" dirty="0">
                <a:solidFill>
                  <a:schemeClr val="tx1"/>
                </a:solidFill>
              </a:rPr>
              <a:t>), des clients graphiques (par exemple pgAdmin3)... Le client peut être sur la même machine</a:t>
            </a:r>
          </a:p>
          <a:p>
            <a:pPr algn="just"/>
            <a:r>
              <a:rPr lang="fr-FR" sz="1600" b="1" dirty="0">
                <a:solidFill>
                  <a:schemeClr val="tx1"/>
                </a:solidFill>
              </a:rPr>
              <a:t>que le serveur, ou bien communiquer avec lui par le réseau.</a:t>
            </a:r>
          </a:p>
        </p:txBody>
      </p:sp>
    </p:spTree>
    <p:extLst>
      <p:ext uri="{BB962C8B-B14F-4D97-AF65-F5344CB8AC3E}">
        <p14:creationId xmlns:p14="http://schemas.microsoft.com/office/powerpoint/2010/main" val="1359243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ABB923E2-1A0E-441B-AC7C-8307BF76E316}"/>
              </a:ext>
            </a:extLst>
          </p:cNvPr>
          <p:cNvSpPr txBox="1"/>
          <p:nvPr/>
        </p:nvSpPr>
        <p:spPr>
          <a:xfrm>
            <a:off x="9312000" y="0"/>
            <a:ext cx="2880000" cy="707886"/>
          </a:xfrm>
          <a:prstGeom prst="rect">
            <a:avLst/>
          </a:prstGeom>
          <a:solidFill>
            <a:schemeClr val="accent1">
              <a:lumMod val="50000"/>
            </a:schemeClr>
          </a:solidFill>
        </p:spPr>
        <p:txBody>
          <a:bodyPr wrap="none" rtlCol="0">
            <a:spAutoFit/>
          </a:bodyPr>
          <a:lstStyle/>
          <a:p>
            <a:pPr algn="r"/>
            <a:r>
              <a:rPr lang="fr-FR" sz="4000" b="1" i="1" dirty="0">
                <a:solidFill>
                  <a:schemeClr val="accent1"/>
                </a:solidFill>
                <a:effectLst>
                  <a:outerShdw blurRad="38100" dist="38100" dir="2700000" algn="tl">
                    <a:srgbClr val="000000">
                      <a:alpha val="43137"/>
                    </a:srgbClr>
                  </a:outerShdw>
                </a:effectLst>
              </a:rPr>
              <a:t>SQL Server</a:t>
            </a:r>
          </a:p>
        </p:txBody>
      </p:sp>
      <p:sp>
        <p:nvSpPr>
          <p:cNvPr id="6" name="Flèche : pentagone 5">
            <a:extLst>
              <a:ext uri="{FF2B5EF4-FFF2-40B4-BE49-F238E27FC236}">
                <a16:creationId xmlns:a16="http://schemas.microsoft.com/office/drawing/2014/main" id="{0E5E26A9-E948-4AB6-95E3-0ACC7DC2AF89}"/>
              </a:ext>
            </a:extLst>
          </p:cNvPr>
          <p:cNvSpPr/>
          <p:nvPr/>
        </p:nvSpPr>
        <p:spPr>
          <a:xfrm>
            <a:off x="0" y="2292826"/>
            <a:ext cx="2880000" cy="720000"/>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t>Présentation général :</a:t>
            </a:r>
          </a:p>
        </p:txBody>
      </p:sp>
      <p:sp>
        <p:nvSpPr>
          <p:cNvPr id="10" name="Rectangle : carré corné 9">
            <a:extLst>
              <a:ext uri="{FF2B5EF4-FFF2-40B4-BE49-F238E27FC236}">
                <a16:creationId xmlns:a16="http://schemas.microsoft.com/office/drawing/2014/main" id="{C56E5E0C-EE59-49B1-A44D-4520C11003F4}"/>
              </a:ext>
            </a:extLst>
          </p:cNvPr>
          <p:cNvSpPr/>
          <p:nvPr/>
        </p:nvSpPr>
        <p:spPr>
          <a:xfrm>
            <a:off x="3047998" y="2292826"/>
            <a:ext cx="8951495" cy="1636295"/>
          </a:xfrm>
          <a:prstGeom prst="foldedCorner">
            <a:avLst/>
          </a:prstGeom>
          <a:solidFill>
            <a:schemeClr val="bg2"/>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1600" b="1" dirty="0">
              <a:solidFill>
                <a:schemeClr val="tx1"/>
              </a:solidFill>
            </a:endParaRPr>
          </a:p>
          <a:p>
            <a:pPr algn="just"/>
            <a:r>
              <a:rPr lang="fr-FR" sz="1600" b="1" dirty="0">
                <a:solidFill>
                  <a:schemeClr val="tx1"/>
                </a:solidFill>
              </a:rPr>
              <a:t>Microsoft SQL Server est un Système de gestion de base de données relationnel et</a:t>
            </a:r>
          </a:p>
          <a:p>
            <a:pPr algn="just"/>
            <a:r>
              <a:rPr lang="fr-FR" sz="1600" b="1" dirty="0">
                <a:solidFill>
                  <a:schemeClr val="tx1"/>
                </a:solidFill>
              </a:rPr>
              <a:t>transactionnel développé et commercialisé par Microsoft.</a:t>
            </a:r>
          </a:p>
          <a:p>
            <a:pPr algn="just"/>
            <a:r>
              <a:rPr lang="fr-FR" sz="1600" b="1" dirty="0">
                <a:solidFill>
                  <a:schemeClr val="tx1"/>
                </a:solidFill>
              </a:rPr>
              <a:t>Microsoft SQL Server utilise le langage T-SQL (</a:t>
            </a:r>
            <a:r>
              <a:rPr lang="fr-FR" sz="1600" b="1" dirty="0" err="1">
                <a:solidFill>
                  <a:schemeClr val="tx1"/>
                </a:solidFill>
              </a:rPr>
              <a:t>Transact</a:t>
            </a:r>
            <a:r>
              <a:rPr lang="fr-FR" sz="1600" b="1" dirty="0">
                <a:solidFill>
                  <a:schemeClr val="tx1"/>
                </a:solidFill>
              </a:rPr>
              <a:t>-SQL) pour ses requêtes, c'est une</a:t>
            </a:r>
          </a:p>
          <a:p>
            <a:pPr algn="just"/>
            <a:r>
              <a:rPr lang="fr-FR" sz="1600" b="1" dirty="0">
                <a:solidFill>
                  <a:schemeClr val="tx1"/>
                </a:solidFill>
              </a:rPr>
              <a:t>implémentation de SQL qui prend en charge les procédures stockées et les</a:t>
            </a:r>
          </a:p>
          <a:p>
            <a:pPr algn="just"/>
            <a:r>
              <a:rPr lang="fr-FR" sz="1600" b="1" dirty="0">
                <a:solidFill>
                  <a:schemeClr val="tx1"/>
                </a:solidFill>
              </a:rPr>
              <a:t>déclencheurs.</a:t>
            </a:r>
          </a:p>
        </p:txBody>
      </p:sp>
    </p:spTree>
    <p:extLst>
      <p:ext uri="{BB962C8B-B14F-4D97-AF65-F5344CB8AC3E}">
        <p14:creationId xmlns:p14="http://schemas.microsoft.com/office/powerpoint/2010/main" val="3059972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6B2DB0-6F9C-43C7-BB42-BE3B41F44449}"/>
              </a:ext>
            </a:extLst>
          </p:cNvPr>
          <p:cNvSpPr>
            <a:spLocks noGrp="1"/>
          </p:cNvSpPr>
          <p:nvPr>
            <p:ph type="title"/>
          </p:nvPr>
        </p:nvSpPr>
        <p:spPr>
          <a:xfrm>
            <a:off x="1499548" y="365125"/>
            <a:ext cx="9192904" cy="1325563"/>
          </a:xfrm>
          <a:solidFill>
            <a:schemeClr val="accent1"/>
          </a:solidFill>
          <a:ln>
            <a:solidFill>
              <a:schemeClr val="accent1"/>
            </a:solidFill>
          </a:ln>
        </p:spPr>
        <p:txBody>
          <a:bodyPr/>
          <a:lstStyle/>
          <a:p>
            <a:pPr algn="ctr"/>
            <a:r>
              <a:rPr lang="fr-FR" b="1" dirty="0">
                <a:solidFill>
                  <a:schemeClr val="bg1"/>
                </a:solidFill>
              </a:rPr>
              <a:t>Comparaison entre les 3 RDBMS</a:t>
            </a:r>
          </a:p>
        </p:txBody>
      </p:sp>
      <p:sp>
        <p:nvSpPr>
          <p:cNvPr id="3" name="Espace réservé du contenu 2">
            <a:extLst>
              <a:ext uri="{FF2B5EF4-FFF2-40B4-BE49-F238E27FC236}">
                <a16:creationId xmlns:a16="http://schemas.microsoft.com/office/drawing/2014/main" id="{CD2CFA13-9805-40D9-AB34-DB6F1AAD5E76}"/>
              </a:ext>
            </a:extLst>
          </p:cNvPr>
          <p:cNvSpPr>
            <a:spLocks noGrp="1"/>
          </p:cNvSpPr>
          <p:nvPr>
            <p:ph idx="1"/>
          </p:nvPr>
        </p:nvSpPr>
        <p:spPr>
          <a:xfrm>
            <a:off x="1499548" y="2151347"/>
            <a:ext cx="9192904" cy="2555306"/>
          </a:xfrm>
          <a:solidFill>
            <a:schemeClr val="tx2">
              <a:lumMod val="20000"/>
              <a:lumOff val="80000"/>
            </a:schemeClr>
          </a:solidFill>
          <a:ln>
            <a:solidFill>
              <a:schemeClr val="tx2">
                <a:lumMod val="40000"/>
                <a:lumOff val="60000"/>
              </a:schemeClr>
            </a:solidFill>
          </a:ln>
        </p:spPr>
        <p:txBody>
          <a:bodyPr/>
          <a:lstStyle/>
          <a:p>
            <a:pPr marL="0" indent="0" algn="just">
              <a:buNone/>
            </a:pPr>
            <a:r>
              <a:rPr lang="fr-FR" dirty="0">
                <a:solidFill>
                  <a:schemeClr val="tx2">
                    <a:lumMod val="75000"/>
                  </a:schemeClr>
                </a:solidFill>
              </a:rPr>
              <a:t>Parmi ces trois, SQL Server offre peut-être le plus de flexibilité et d'efficacité, car il permet de surveiller les lignes et les colonnes mises à jour, de collecter les erreurs et d'automatiser le processus. La différence entre SQL Server et MySQL et </a:t>
            </a:r>
            <a:r>
              <a:rPr lang="fr-FR" dirty="0" err="1">
                <a:solidFill>
                  <a:schemeClr val="tx2">
                    <a:lumMod val="75000"/>
                  </a:schemeClr>
                </a:solidFill>
              </a:rPr>
              <a:t>Postgresql</a:t>
            </a:r>
            <a:r>
              <a:rPr lang="fr-FR" dirty="0">
                <a:solidFill>
                  <a:schemeClr val="tx2">
                    <a:lumMod val="75000"/>
                  </a:schemeClr>
                </a:solidFill>
              </a:rPr>
              <a:t> réside principalement dans la personnalisation des positions – SQL Server offre bien plus que les autres.</a:t>
            </a:r>
          </a:p>
        </p:txBody>
      </p:sp>
    </p:spTree>
    <p:extLst>
      <p:ext uri="{BB962C8B-B14F-4D97-AF65-F5344CB8AC3E}">
        <p14:creationId xmlns:p14="http://schemas.microsoft.com/office/powerpoint/2010/main" val="363699971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443</TotalTime>
  <Words>622</Words>
  <Application>Microsoft Office PowerPoint</Application>
  <PresentationFormat>Grand écran</PresentationFormat>
  <Paragraphs>34</Paragraphs>
  <Slides>5</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vt:i4>
      </vt:variant>
    </vt:vector>
  </HeadingPairs>
  <TitlesOfParts>
    <vt:vector size="9" baseType="lpstr">
      <vt:lpstr>Arial</vt:lpstr>
      <vt:lpstr>Calibri</vt:lpstr>
      <vt:lpstr>Calibri Light</vt:lpstr>
      <vt:lpstr>Thème Office</vt:lpstr>
      <vt:lpstr>Présentation PowerPoint</vt:lpstr>
      <vt:lpstr>Présentation PowerPoint</vt:lpstr>
      <vt:lpstr>Présentation PowerPoint</vt:lpstr>
      <vt:lpstr>Présentation PowerPoint</vt:lpstr>
      <vt:lpstr>Comparaison entre les 3 RDBMS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bahri mekki</dc:creator>
  <cp:lastModifiedBy>bahri mekki</cp:lastModifiedBy>
  <cp:revision>15</cp:revision>
  <dcterms:created xsi:type="dcterms:W3CDTF">2021-05-04T07:40:17Z</dcterms:created>
  <dcterms:modified xsi:type="dcterms:W3CDTF">2021-06-09T16:57:37Z</dcterms:modified>
</cp:coreProperties>
</file>